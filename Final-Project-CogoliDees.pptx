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72" r:id="rId6"/>
    <p:sldId id="264" r:id="rId7"/>
    <p:sldId id="273" r:id="rId8"/>
    <p:sldId id="260" r:id="rId9"/>
    <p:sldId id="259" r:id="rId10"/>
    <p:sldId id="265" r:id="rId11"/>
    <p:sldId id="261" r:id="rId12"/>
    <p:sldId id="262" r:id="rId13"/>
    <p:sldId id="263" r:id="rId14"/>
    <p:sldId id="271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6195B-DCB4-F7AC-734A-49E45B049023}" v="372" dt="2026-04-27T19:12:55.060"/>
    <p1510:client id="{C2AAB906-1BB1-75C1-97AC-321415A0CDD2}" v="124" dt="2026-04-28T18:53:35.193"/>
    <p1510:client id="{C39DE52F-AD5F-4092-B4EF-7FA1AF28F24D}" v="6" dt="2026-04-28T18:07:09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E7C9-9CC4-0953-7A01-C528241D1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B4E0A-45A1-8999-D643-FF3F0C99C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71DD6-6176-6DE0-6BED-1D92C3B6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94F5A-C805-8164-7CE1-840881E5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BDC1C-A117-1451-50DA-F2F72E5A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8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CA7E-013C-01AE-9113-28C14C16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73886-A36B-DC55-5E04-B53E3ED31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086E2-FF4A-3DA3-A9DA-166BAAF9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643C-330F-26CF-82CA-8B61EBEB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7CFAA-3614-9711-FA92-54678C90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2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7C1A-6137-97DB-53CA-EC4C5495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356E1-0354-099E-7EDA-02E0B9C7E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FE40A-0BFD-081F-9044-65E775BD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C72AE-0909-0936-FBF9-322F942A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11EF1-D11F-B892-9D98-A6D44072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6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C168-B8E2-4426-C966-CD065174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C31D4-48B1-6183-D826-847164B7F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8DE23-3D66-A079-1632-22BFE104D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7F7C0-6E33-2D76-1311-0A65F5CC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440EB-4787-B99F-A5E3-C1922405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1917B-207D-9DAB-E281-1EE2DDD0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E979-C41A-D6AD-630F-9176A6061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D9226-6935-37D3-6AAD-4C0D23187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29B07-52CA-0FC6-BEF1-C3721ED5C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4746B-6DC5-C032-C87F-FCA1CF930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FB68B-744F-6682-84DC-96E499D45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EBEB7-E9AF-C3EE-1BF5-B77E6FCF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587B7-FBBF-22E9-F588-4E485147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DEF65-CABE-D81C-2134-BB847865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1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9B93B-7E8E-FEB4-BB80-F0A3F955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4D2DB-4677-D100-4B24-F8C7E4D9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C0584-8C72-5329-BB24-5F331E8E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CC135-C196-0223-A044-C9E735E91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8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FDF88-64DB-CDB5-1207-B3ECBD91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88B5E-1471-224F-3B1C-3DC0158B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939C6-ED27-338B-5111-604847AC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1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5C56-948A-C7F3-2469-D3D17B2D1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1A3E-9E9A-1CF7-79B4-EA77FFA7D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3D69E-D661-075E-176C-6271A3EEA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E9D27-B317-EE77-97F4-11D0BDDB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F-6EDE-A809-3658-E854F4D1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C87F4-8FA5-12CA-A822-A2B72B47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4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F261-4BC3-E1ED-C4F1-20F8EDCB4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DE25-9700-4551-46EA-F806F059B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C1AB3-D02B-88D3-1ED8-C8A3BE87C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C5CD-9FA9-BA89-BA17-559F82FF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D5957-CC14-CB4B-242F-60E59559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73FB7-26E1-B269-1F0F-D3E42CAA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3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B8AB-F7F3-849A-E677-CEA58743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8A4A2-78EA-F6EA-B5E5-D4C283558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43E44-DA29-A8D0-8975-72CB748D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A69B2-F4AA-2010-4C04-9516D69A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7DDA9-2EEE-1452-C94E-B5E3E196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9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0897B8-DC6F-5998-C252-F18B3D4EF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82FF7-0D81-0FB8-FEF8-09383A927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91051-90BC-7CCF-B7CB-1FDFFDAB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0FF-5734-EDD2-3EE7-411D7F01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2B768-9CAF-964D-4F6C-E6C1482A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12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7CF29-B43E-AF32-DE20-95414BF0D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B06D7-DDA5-45A5-C57C-82A2BFF2E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72A73-6D27-8106-C9F3-FCB123C9B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2F663-AA35-4703-B04C-4BCA12AA41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D8AF7-7ED5-8DB5-4001-2D3CBC8ED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115A1-B24F-6029-0AC1-BB1ECB985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26ADC-1148-4773-9EEF-78F54C22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1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mputer screen with a globe and text&#10;&#10;Description automatically generated">
            <a:extLst>
              <a:ext uri="{FF2B5EF4-FFF2-40B4-BE49-F238E27FC236}">
                <a16:creationId xmlns:a16="http://schemas.microsoft.com/office/drawing/2014/main" id="{FE12C46F-26CD-DE3A-B879-957C1DAB2A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7" r="-1" b="10022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78DDB6-53F0-67F9-0743-E67E87BA77A7}"/>
              </a:ext>
            </a:extLst>
          </p:cNvPr>
          <p:cNvSpPr/>
          <p:nvPr/>
        </p:nvSpPr>
        <p:spPr>
          <a:xfrm>
            <a:off x="1527048" y="1124712"/>
            <a:ext cx="9144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ln w="38100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  <a:ea typeface="+mj-ea"/>
                <a:cs typeface="+mj-cs"/>
              </a:rPr>
              <a:t>Game Genre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E2E3F-98C1-83E3-4819-6366C1D98298}"/>
              </a:ext>
            </a:extLst>
          </p:cNvPr>
          <p:cNvSpPr txBox="1"/>
          <p:nvPr/>
        </p:nvSpPr>
        <p:spPr>
          <a:xfrm>
            <a:off x="1527048" y="4599432"/>
            <a:ext cx="9144000" cy="1227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>
                <a:ln w="9525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Sara Cogoli, Hannah Dees</a:t>
            </a:r>
          </a:p>
        </p:txBody>
      </p:sp>
      <p:sp>
        <p:nvSpPr>
          <p:cNvPr id="24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61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A1B83-E048-70E9-B4E2-5A89C6359481}"/>
              </a:ext>
            </a:extLst>
          </p:cNvPr>
          <p:cNvSpPr txBox="1"/>
          <p:nvPr/>
        </p:nvSpPr>
        <p:spPr>
          <a:xfrm>
            <a:off x="761803" y="350196"/>
            <a:ext cx="4646904" cy="1624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latin typeface="+mj-lt"/>
                <a:ea typeface="+mj-ea"/>
                <a:cs typeface="+mj-cs"/>
              </a:rPr>
              <a:t>Research question:</a:t>
            </a:r>
            <a:r>
              <a:rPr lang="en-US" sz="4000">
                <a:latin typeface="+mj-lt"/>
                <a:ea typeface="+mj-ea"/>
                <a:cs typeface="+mj-cs"/>
              </a:rPr>
              <a:t> 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>
              <a:latin typeface="+mj-lt"/>
              <a:ea typeface="+mj-ea"/>
              <a:cs typeface="+mj-cs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C508AA0B-AA98-3F72-3B29-E559B556C398}"/>
              </a:ext>
            </a:extLst>
          </p:cNvPr>
          <p:cNvSpPr txBox="1"/>
          <p:nvPr/>
        </p:nvSpPr>
        <p:spPr>
          <a:xfrm>
            <a:off x="761802" y="2743200"/>
            <a:ext cx="4646905" cy="3613149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/>
              <a:t>How </a:t>
            </a:r>
            <a:r>
              <a:rPr lang="en-US" sz="2000"/>
              <a:t>accurately</a:t>
            </a:r>
            <a:r>
              <a:rPr lang="en-US" sz="2000" b="0" i="0"/>
              <a:t> will the machine model classify video games into genres using user-inputted text features, tags, and descriptions?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" name="Picture 6" descr="Multi-colored paper-craft art">
            <a:extLst>
              <a:ext uri="{FF2B5EF4-FFF2-40B4-BE49-F238E27FC236}">
                <a16:creationId xmlns:a16="http://schemas.microsoft.com/office/drawing/2014/main" id="{EB418899-964A-F1FD-29E9-7432B168DA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55" r="18532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5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0AEE4-AD09-8C4A-18B8-90948C8D4749}"/>
              </a:ext>
            </a:extLst>
          </p:cNvPr>
          <p:cNvSpPr txBox="1"/>
          <p:nvPr/>
        </p:nvSpPr>
        <p:spPr>
          <a:xfrm>
            <a:off x="956826" y="1112969"/>
            <a:ext cx="3937298" cy="416601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Our Main Goal</a:t>
            </a: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86184-5BA3-D11F-E8A8-8373047E4317}"/>
              </a:ext>
            </a:extLst>
          </p:cNvPr>
          <p:cNvSpPr txBox="1"/>
          <p:nvPr/>
        </p:nvSpPr>
        <p:spPr>
          <a:xfrm>
            <a:off x="6096000" y="820880"/>
            <a:ext cx="5257799" cy="48893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>
                <a:highlight>
                  <a:srgbClr val="FFFFFF"/>
                </a:highlight>
              </a:rPr>
              <a:t>The overall goal for this project is to create a keyword-driven search tool that helps users discover games by concept rather than by name or popularity. This makes it easier to explore genres, find similar titles, and understand how text-based features can influence classification.</a:t>
            </a:r>
            <a:endParaRPr lang="en-US" sz="28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2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7A8A51-B095-E9F5-85CA-C74DDF37DB19}"/>
              </a:ext>
            </a:extLst>
          </p:cNvPr>
          <p:cNvSpPr txBox="1"/>
          <p:nvPr/>
        </p:nvSpPr>
        <p:spPr>
          <a:xfrm>
            <a:off x="355600" y="55372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0" i="0" u="none" strike="noStrike" baseline="0">
                <a:solidFill>
                  <a:srgbClr val="000000"/>
                </a:solidFill>
                <a:latin typeface="Amasis MT Pro Black"/>
              </a:rPr>
              <a:t>How our project works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A822F-0BFE-27EE-F0FB-2354384AE963}"/>
              </a:ext>
            </a:extLst>
          </p:cNvPr>
          <p:cNvSpPr txBox="1"/>
          <p:nvPr/>
        </p:nvSpPr>
        <p:spPr>
          <a:xfrm>
            <a:off x="899160" y="2758439"/>
            <a:ext cx="387096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sz="2000"/>
              <a:t>First, load the model and folder into </a:t>
            </a:r>
            <a:r>
              <a:rPr lang="en-US" sz="2000" err="1"/>
              <a:t>VisualStudio</a:t>
            </a:r>
            <a:r>
              <a:rPr lang="en-US" sz="2000"/>
              <a:t> Code</a:t>
            </a:r>
          </a:p>
          <a:p>
            <a:pPr marL="285750" indent="-285750">
              <a:buFont typeface="Arial,Sans-Serif"/>
              <a:buChar char="•"/>
            </a:pPr>
            <a:endParaRPr lang="en-US" sz="2000"/>
          </a:p>
          <a:p>
            <a:pPr marL="285750" indent="-285750">
              <a:buFont typeface="Arial,Sans-Serif"/>
              <a:buChar char="•"/>
            </a:pPr>
            <a:r>
              <a:rPr lang="en-US" sz="2000"/>
              <a:t>Then, think of types of games you would like to search for</a:t>
            </a:r>
          </a:p>
          <a:p>
            <a:pPr marL="285750" indent="-285750">
              <a:buFont typeface="Arial,Sans-Serif"/>
              <a:buChar char="•"/>
            </a:pPr>
            <a:endParaRPr lang="en-US" sz="2000"/>
          </a:p>
          <a:p>
            <a:pPr marL="285750" indent="-285750">
              <a:buFont typeface="Arial,Sans-Serif"/>
              <a:buChar char="•"/>
            </a:pPr>
            <a:r>
              <a:rPr lang="en-US" sz="2000"/>
              <a:t>Lastly, search any keyword or description into the model's search input, and the model will match you with similar games.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4777A-0951-FD8A-540B-42158A53F199}"/>
              </a:ext>
            </a:extLst>
          </p:cNvPr>
          <p:cNvSpPr txBox="1"/>
          <p:nvPr/>
        </p:nvSpPr>
        <p:spPr>
          <a:xfrm>
            <a:off x="680720" y="202692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1F2328"/>
                </a:solidFill>
                <a:latin typeface="OCRB"/>
              </a:rPr>
              <a:t>How the user interacts: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B0FEF-487F-CE4A-1EA8-17FEA00AE29C}"/>
              </a:ext>
            </a:extLst>
          </p:cNvPr>
          <p:cNvSpPr txBox="1"/>
          <p:nvPr/>
        </p:nvSpPr>
        <p:spPr>
          <a:xfrm>
            <a:off x="6329680" y="202692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1F2328"/>
                </a:solidFill>
                <a:latin typeface="OCRB"/>
              </a:rPr>
              <a:t>How the model runs: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03092-55C0-3B63-C873-49B2CA28B451}"/>
              </a:ext>
            </a:extLst>
          </p:cNvPr>
          <p:cNvSpPr txBox="1"/>
          <p:nvPr/>
        </p:nvSpPr>
        <p:spPr>
          <a:xfrm>
            <a:off x="6101079" y="2946400"/>
            <a:ext cx="443484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200"/>
              </a:spcAft>
              <a:buFont typeface="Arial,Sans-Serif"/>
              <a:buChar char="•"/>
            </a:pPr>
            <a:r>
              <a:rPr lang="en-US" sz="2000">
                <a:solidFill>
                  <a:srgbClr val="1F2328"/>
                </a:solidFill>
                <a:latin typeface="Arial"/>
                <a:cs typeface="Arial"/>
              </a:rPr>
              <a:t>A BERT tokenizer converts text into model-ready input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spcAft>
                <a:spcPts val="1200"/>
              </a:spcAft>
              <a:buFont typeface="Arial,Sans-Serif"/>
              <a:buChar char="•"/>
            </a:pPr>
            <a:r>
              <a:rPr lang="en-US" sz="2000">
                <a:solidFill>
                  <a:srgbClr val="1F2328"/>
                </a:solidFill>
                <a:latin typeface="Arial"/>
                <a:cs typeface="Arial"/>
              </a:rPr>
              <a:t>A machine learning classifier predicts the primary genre to display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spcAft>
                <a:spcPts val="1200"/>
              </a:spcAft>
              <a:buFont typeface="Arial,Sans-Serif"/>
              <a:buChar char="•"/>
            </a:pPr>
            <a:r>
              <a:rPr lang="en-US" sz="2000">
                <a:solidFill>
                  <a:srgbClr val="1F2328"/>
                </a:solidFill>
                <a:latin typeface="Arial"/>
                <a:cs typeface="Arial"/>
              </a:rPr>
              <a:t>The system retrieves and displays games that match the predicted genre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4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296B00-1209-8BE3-2868-6A4CF8849173}"/>
              </a:ext>
            </a:extLst>
          </p:cNvPr>
          <p:cNvSpPr txBox="1"/>
          <p:nvPr/>
        </p:nvSpPr>
        <p:spPr>
          <a:xfrm>
            <a:off x="8079978" y="741391"/>
            <a:ext cx="3369234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Dataset Overview</a:t>
            </a:r>
          </a:p>
        </p:txBody>
      </p:sp>
      <p:pic>
        <p:nvPicPr>
          <p:cNvPr id="2100" name="Picture 2099" descr="Electronic circuit board">
            <a:extLst>
              <a:ext uri="{FF2B5EF4-FFF2-40B4-BE49-F238E27FC236}">
                <a16:creationId xmlns:a16="http://schemas.microsoft.com/office/drawing/2014/main" id="{72EB0E4E-240E-ABC2-9691-0B0A7A050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54" r="26715" b="8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2101" name="Rectangle 2100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2" name="Rectangle 210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104" name="TextBox 2103">
            <a:extLst>
              <a:ext uri="{FF2B5EF4-FFF2-40B4-BE49-F238E27FC236}">
                <a16:creationId xmlns:a16="http://schemas.microsoft.com/office/drawing/2014/main" id="{0F2E9C95-7F7C-924A-9025-C75D244A938E}"/>
              </a:ext>
            </a:extLst>
          </p:cNvPr>
          <p:cNvSpPr txBox="1"/>
          <p:nvPr/>
        </p:nvSpPr>
        <p:spPr>
          <a:xfrm>
            <a:off x="8079978" y="2533476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We are using a Steam Game Dataset from Kaggle.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The dataset holds over 40,000 games </a:t>
            </a:r>
          </a:p>
          <a:p>
            <a:pPr marL="571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The fields included in the set we used: titles, descriptions, tags, and genres.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944140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35C14A9-6C8C-E856-1BCC-E63F5D25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10" r="21740" b="-4"/>
          <a:stretch>
            <a:fillRect/>
          </a:stretch>
        </p:blipFill>
        <p:spPr>
          <a:xfrm>
            <a:off x="40660" y="10"/>
            <a:ext cx="689862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42DC30-76FE-E546-8428-21C719010C77}"/>
              </a:ext>
            </a:extLst>
          </p:cNvPr>
          <p:cNvSpPr txBox="1"/>
          <p:nvPr/>
        </p:nvSpPr>
        <p:spPr>
          <a:xfrm>
            <a:off x="321478" y="-670849"/>
            <a:ext cx="4491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>
                <a:latin typeface="Amasis MT Pro Black"/>
                <a:ea typeface="+mj-ea"/>
                <a:cs typeface="+mj-cs"/>
              </a:rPr>
              <a:t>Key Techniques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ED680B-5FE9-FFEA-713B-F7136469781B}"/>
              </a:ext>
            </a:extLst>
          </p:cNvPr>
          <p:cNvSpPr txBox="1"/>
          <p:nvPr/>
        </p:nvSpPr>
        <p:spPr>
          <a:xfrm>
            <a:off x="7108358" y="277956"/>
            <a:ext cx="4949020" cy="2614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sz="2000" b="1" i="0">
                <a:effectLst/>
                <a:latin typeface="mona sans vf"/>
              </a:rPr>
              <a:t>-Text Processing:</a:t>
            </a:r>
            <a:endParaRPr lang="en-US" sz="2000" b="1">
              <a:latin typeface="mona sans vf"/>
            </a:endParaRP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  <a:latin typeface="mona sans vf"/>
              </a:rPr>
              <a:t>Combined multiple text fields into a single input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mona sans vf"/>
                <a:ea typeface="+mn-lt"/>
                <a:cs typeface="+mn-lt"/>
              </a:rPr>
              <a:t>Cleaned and normalized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mona sans vf"/>
                <a:ea typeface="+mn-lt"/>
                <a:cs typeface="+mn-lt"/>
              </a:rPr>
              <a:t>Tokenized text using BERT tokenizer</a:t>
            </a:r>
          </a:p>
          <a:p>
            <a:pPr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E1703-1218-9AB0-FC3E-D75BA7B0D973}"/>
              </a:ext>
            </a:extLst>
          </p:cNvPr>
          <p:cNvSpPr txBox="1"/>
          <p:nvPr/>
        </p:nvSpPr>
        <p:spPr>
          <a:xfrm>
            <a:off x="7108159" y="2360166"/>
            <a:ext cx="5221108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000" b="1" i="0">
                <a:solidFill>
                  <a:schemeClr val="tx2"/>
                </a:solidFill>
                <a:effectLst/>
                <a:latin typeface="Mona Sans VF"/>
              </a:rPr>
              <a:t>-Feature Extraction: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solidFill>
                  <a:schemeClr val="tx2"/>
                </a:solidFill>
                <a:effectLst/>
                <a:latin typeface="Mona Sans VF"/>
              </a:rPr>
              <a:t>Used </a:t>
            </a:r>
            <a:r>
              <a:rPr lang="en-US" sz="2000"/>
              <a:t>BERT</a:t>
            </a:r>
            <a:r>
              <a:rPr lang="en-US" sz="2000" b="0" i="0">
                <a:solidFill>
                  <a:schemeClr val="tx2"/>
                </a:solidFill>
                <a:effectLst/>
                <a:latin typeface="Mona Sans VF"/>
              </a:rPr>
              <a:t> embeddings to generate contextual representations of each game.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1F2328"/>
                </a:solidFill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Explored Word2Vec as an alternate feature extraction method.</a:t>
            </a:r>
            <a:endParaRPr lang="en-US" sz="2000">
              <a:solidFill>
                <a:schemeClr val="tx2"/>
              </a:solidFill>
              <a:latin typeface="mona sans vf"/>
            </a:endParaRPr>
          </a:p>
          <a:p>
            <a:endParaRPr lang="en-US" sz="2000">
              <a:solidFill>
                <a:srgbClr val="1F2328"/>
              </a:solidFill>
              <a:highlight>
                <a:srgbClr val="FFFFFF"/>
              </a:highlight>
              <a:latin typeface="mona sans vf"/>
            </a:endParaRP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2"/>
              </a:solidFill>
              <a:latin typeface="Mona Sans VF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6A93C-3392-CBEC-A66E-DCBC00CA481F}"/>
              </a:ext>
            </a:extLst>
          </p:cNvPr>
          <p:cNvSpPr txBox="1"/>
          <p:nvPr/>
        </p:nvSpPr>
        <p:spPr>
          <a:xfrm>
            <a:off x="7112000" y="4333240"/>
            <a:ext cx="494792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000" b="1" i="0" u="none" strike="noStrike" baseline="0">
                <a:solidFill>
                  <a:srgbClr val="0E2841"/>
                </a:solidFill>
                <a:latin typeface="Mona Sans VF"/>
                <a:ea typeface="Segoe UI"/>
                <a:cs typeface="Segoe UI"/>
              </a:rPr>
              <a:t>-Keyword Search:</a:t>
            </a:r>
            <a:r>
              <a:rPr lang="en-US" sz="2000" b="0" i="0">
                <a:solidFill>
                  <a:srgbClr val="000000"/>
                </a:solidFill>
                <a:latin typeface="Mona Sans VF"/>
                <a:ea typeface="Segoe UI"/>
                <a:cs typeface="Segoe UI"/>
              </a:rPr>
              <a:t>​</a:t>
            </a:r>
          </a:p>
          <a:p>
            <a:pPr marL="228600" lvl="0" indent="-228600" algn="l" rtl="0"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0E2841"/>
                </a:solidFill>
                <a:latin typeface="Mona Sans VF"/>
                <a:ea typeface="Arial"/>
                <a:cs typeface="Arial"/>
              </a:rPr>
              <a:t>Implemented a simple keyword search tool</a:t>
            </a:r>
            <a:r>
              <a:rPr lang="en-US" sz="2000" b="0" i="0">
                <a:solidFill>
                  <a:srgbClr val="000000"/>
                </a:solidFill>
                <a:latin typeface="Mona Sans VF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1F2328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Mapped user keywords to the closest game genre using the classifier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Arial,Sans-Serif"/>
              <a:buChar char="•"/>
            </a:pPr>
            <a:r>
              <a:rPr lang="en-US" sz="2000" b="0" i="0" u="none" strike="noStrike" baseline="0">
                <a:solidFill>
                  <a:srgbClr val="1F2328"/>
                </a:solidFill>
                <a:highlight>
                  <a:srgbClr val="FFFFFF"/>
                </a:highlight>
                <a:latin typeface="Aptos"/>
                <a:ea typeface="Arial"/>
                <a:cs typeface="Arial"/>
              </a:rPr>
              <a:t>Returned a list of games whose embeddings are most similar to the user's input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olorful squares and lines&#10;&#10;AI-generated content may be incorrect.">
            <a:extLst>
              <a:ext uri="{FF2B5EF4-FFF2-40B4-BE49-F238E27FC236}">
                <a16:creationId xmlns:a16="http://schemas.microsoft.com/office/drawing/2014/main" id="{9174BD00-1AAE-4896-B4FD-97F4E0E8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10" r="21740" b="-4"/>
          <a:stretch>
            <a:fillRect/>
          </a:stretch>
        </p:blipFill>
        <p:spPr>
          <a:xfrm>
            <a:off x="40660" y="10"/>
            <a:ext cx="689862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EECDE3-12C0-7057-14EE-052EDA219C49}"/>
              </a:ext>
            </a:extLst>
          </p:cNvPr>
          <p:cNvSpPr txBox="1"/>
          <p:nvPr/>
        </p:nvSpPr>
        <p:spPr>
          <a:xfrm>
            <a:off x="121920" y="187960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0" i="0" u="none" strike="noStrike" baseline="0">
                <a:solidFill>
                  <a:srgbClr val="000000"/>
                </a:solidFill>
                <a:latin typeface="Amasis MT Pro Black"/>
              </a:rPr>
              <a:t>Key Techniques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A9B09-8DB8-B37C-2CA7-DB64FFC65AB0}"/>
              </a:ext>
            </a:extLst>
          </p:cNvPr>
          <p:cNvSpPr txBox="1"/>
          <p:nvPr/>
        </p:nvSpPr>
        <p:spPr>
          <a:xfrm>
            <a:off x="7965440" y="4028440"/>
            <a:ext cx="4226560" cy="3262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1" i="0" u="none" strike="noStrike" baseline="0">
                <a:solidFill>
                  <a:srgbClr val="0E2841"/>
                </a:solidFill>
                <a:latin typeface="Mona Sans VF"/>
                <a:ea typeface="Segoe UI"/>
                <a:cs typeface="Segoe UI"/>
              </a:rPr>
              <a:t>-Clustering:</a:t>
            </a:r>
            <a:r>
              <a:rPr lang="en-US" sz="2400" b="1" i="0">
                <a:solidFill>
                  <a:srgbClr val="000000"/>
                </a:solidFill>
                <a:latin typeface="Mona Sans VF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2400" b="0" i="0" u="none" strike="noStrike" baseline="0">
                <a:solidFill>
                  <a:srgbClr val="0E2841"/>
                </a:solidFill>
                <a:latin typeface="Mona Sans VF"/>
                <a:ea typeface="Arial"/>
                <a:cs typeface="Arial"/>
              </a:rPr>
              <a:t>Used clustering to support keyword-based game recommendations</a:t>
            </a:r>
          </a:p>
          <a:p>
            <a:pPr marL="342900" indent="-342900">
              <a:buFont typeface="Arial"/>
              <a:buChar char="•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  <a:ea typeface="+mn-lt"/>
                <a:cs typeface="+mn-lt"/>
              </a:rPr>
              <a:t>Compared cluster grouping to actual genres to analyze model behavior</a:t>
            </a:r>
            <a:endParaRPr lang="en-US" sz="2400">
              <a:solidFill>
                <a:srgbClr val="0E2841"/>
              </a:solidFill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en-US" sz="2000">
              <a:solidFill>
                <a:srgbClr val="0E2841"/>
              </a:solidFill>
              <a:latin typeface="Mona Sans VF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DE59B457-E8AE-BCEF-73D1-77E062DE31F2}"/>
              </a:ext>
            </a:extLst>
          </p:cNvPr>
          <p:cNvSpPr txBox="1"/>
          <p:nvPr/>
        </p:nvSpPr>
        <p:spPr>
          <a:xfrm>
            <a:off x="7970745" y="195099"/>
            <a:ext cx="4020939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2400" b="1" i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-</a:t>
            </a:r>
            <a:r>
              <a:rPr lang="en-US" sz="2400" b="1">
                <a:solidFill>
                  <a:srgbClr val="1F2328"/>
                </a:solidFill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Classification</a:t>
            </a:r>
            <a:r>
              <a:rPr lang="en-US" sz="2400" b="1" i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:</a:t>
            </a:r>
            <a:endParaRPr lang="en-US" sz="2400" b="1">
              <a:solidFill>
                <a:srgbClr val="1F2328"/>
              </a:solidFill>
              <a:highlight>
                <a:srgbClr val="FFFFFF"/>
              </a:highlight>
              <a:latin typeface="mona sans vf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Trained and supervised </a:t>
            </a:r>
            <a:r>
              <a:rPr lang="en-US" sz="2400" b="0" i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a </a:t>
            </a: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machine learning model to predict the primary game genre</a:t>
            </a:r>
            <a:endParaRPr lang="en-US" sz="2400">
              <a:latin typeface="mona sans vf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Evaluated multiple classifiers</a:t>
            </a:r>
            <a:endParaRPr lang="en-US" sz="2400">
              <a:latin typeface="mona sans vf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1F2328"/>
                </a:solidFill>
                <a:highlight>
                  <a:srgbClr val="FFFFFF"/>
                </a:highlight>
                <a:latin typeface="mona sans vf"/>
                <a:ea typeface="+mn-lt"/>
                <a:cs typeface="+mn-lt"/>
              </a:rPr>
              <a:t>Measured performance accuracy, precision, and recall</a:t>
            </a:r>
            <a:endParaRPr lang="en-US" sz="2400">
              <a:latin typeface="mona sans vf"/>
            </a:endParaRPr>
          </a:p>
          <a:p>
            <a:pPr algn="l">
              <a:spcAft>
                <a:spcPts val="1200"/>
              </a:spcAft>
            </a:pPr>
            <a:endParaRPr lang="en-US" sz="2400" b="0" i="0">
              <a:solidFill>
                <a:schemeClr val="tx2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70144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76E82-CFA9-CD46-0559-424574FA4B47}"/>
              </a:ext>
            </a:extLst>
          </p:cNvPr>
          <p:cNvSpPr txBox="1"/>
          <p:nvPr/>
        </p:nvSpPr>
        <p:spPr>
          <a:xfrm>
            <a:off x="835155" y="552906"/>
            <a:ext cx="5165936" cy="1674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 Training Performance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22FC3-5C13-972F-68D1-D97198C78AE5}"/>
              </a:ext>
            </a:extLst>
          </p:cNvPr>
          <p:cNvSpPr txBox="1"/>
          <p:nvPr/>
        </p:nvSpPr>
        <p:spPr>
          <a:xfrm>
            <a:off x="6190909" y="552906"/>
            <a:ext cx="5159825" cy="16749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 first used only 3000 items from the set to get the original train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It trained to 78% accuracy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EAC3BC-F5D3-2977-E21B-64BAC6AF8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66" y="2488333"/>
            <a:ext cx="10515569" cy="373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2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76D55-CDF9-9589-2B47-86572F812FAD}"/>
              </a:ext>
            </a:extLst>
          </p:cNvPr>
          <p:cNvSpPr txBox="1"/>
          <p:nvPr/>
        </p:nvSpPr>
        <p:spPr>
          <a:xfrm>
            <a:off x="645064" y="525982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Second Training Performance Review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0E2BB-5B1F-D4A4-0AE6-1B0C7598F305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We then used 9000-12000 items to train with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Both outcomes had a 90% accuracy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BE5621A-A9D0-1BA1-BDBA-3DAF80A8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736720"/>
            <a:ext cx="5628018" cy="315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5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2F42F6F-FDA2-4441-805F-CF30FBC99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FFE0D-86E1-9327-EC10-07F1FB56A9B8}"/>
              </a:ext>
            </a:extLst>
          </p:cNvPr>
          <p:cNvSpPr txBox="1"/>
          <p:nvPr/>
        </p:nvSpPr>
        <p:spPr>
          <a:xfrm>
            <a:off x="5445299" y="4592325"/>
            <a:ext cx="5946579" cy="15141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Saving Our Model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8226A8C-7793-4AE1-93F3-C51E771AB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8099" y="0"/>
            <a:ext cx="3743596" cy="3921836"/>
            <a:chOff x="8310716" y="0"/>
            <a:chExt cx="3878237" cy="406288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3835AF5-9945-4DCC-B810-B2A76714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10716" y="1"/>
              <a:ext cx="3878236" cy="4062887"/>
            </a:xfrm>
            <a:custGeom>
              <a:avLst/>
              <a:gdLst>
                <a:gd name="connsiteX0" fmla="*/ 458236 w 3878236"/>
                <a:gd name="connsiteY0" fmla="*/ 0 h 4062887"/>
                <a:gd name="connsiteX1" fmla="*/ 626135 w 3878236"/>
                <a:gd name="connsiteY1" fmla="*/ 0 h 4062887"/>
                <a:gd name="connsiteX2" fmla="*/ 541802 w 3878236"/>
                <a:gd name="connsiteY2" fmla="*/ 96785 h 4062887"/>
                <a:gd name="connsiteX3" fmla="*/ 393588 w 3878236"/>
                <a:gd name="connsiteY3" fmla="*/ 301059 h 4062887"/>
                <a:gd name="connsiteX4" fmla="*/ 267407 w 3878236"/>
                <a:gd name="connsiteY4" fmla="*/ 519085 h 4062887"/>
                <a:gd name="connsiteX5" fmla="*/ 239453 w 3878236"/>
                <a:gd name="connsiteY5" fmla="*/ 575472 h 4062887"/>
                <a:gd name="connsiteX6" fmla="*/ 225864 w 3878236"/>
                <a:gd name="connsiteY6" fmla="*/ 603893 h 4062887"/>
                <a:gd name="connsiteX7" fmla="*/ 212955 w 3878236"/>
                <a:gd name="connsiteY7" fmla="*/ 632590 h 4062887"/>
                <a:gd name="connsiteX8" fmla="*/ 188301 w 3878236"/>
                <a:gd name="connsiteY8" fmla="*/ 690444 h 4062887"/>
                <a:gd name="connsiteX9" fmla="*/ 165201 w 3878236"/>
                <a:gd name="connsiteY9" fmla="*/ 748939 h 4062887"/>
                <a:gd name="connsiteX10" fmla="*/ 90074 w 3878236"/>
                <a:gd name="connsiteY10" fmla="*/ 988511 h 4062887"/>
                <a:gd name="connsiteX11" fmla="*/ 29119 w 3878236"/>
                <a:gd name="connsiteY11" fmla="*/ 1484891 h 4062887"/>
                <a:gd name="connsiteX12" fmla="*/ 54743 w 3878236"/>
                <a:gd name="connsiteY12" fmla="*/ 1732714 h 4062887"/>
                <a:gd name="connsiteX13" fmla="*/ 132976 w 3878236"/>
                <a:gd name="connsiteY13" fmla="*/ 1969719 h 4062887"/>
                <a:gd name="connsiteX14" fmla="*/ 159959 w 3878236"/>
                <a:gd name="connsiteY14" fmla="*/ 2026381 h 4062887"/>
                <a:gd name="connsiteX15" fmla="*/ 189951 w 3878236"/>
                <a:gd name="connsiteY15" fmla="*/ 2081758 h 4062887"/>
                <a:gd name="connsiteX16" fmla="*/ 256439 w 3878236"/>
                <a:gd name="connsiteY16" fmla="*/ 2189121 h 4062887"/>
                <a:gd name="connsiteX17" fmla="*/ 329818 w 3878236"/>
                <a:gd name="connsiteY17" fmla="*/ 2292816 h 4062887"/>
                <a:gd name="connsiteX18" fmla="*/ 408438 w 3878236"/>
                <a:gd name="connsiteY18" fmla="*/ 2393577 h 4062887"/>
                <a:gd name="connsiteX19" fmla="*/ 572086 w 3878236"/>
                <a:gd name="connsiteY19" fmla="*/ 2592900 h 4062887"/>
                <a:gd name="connsiteX20" fmla="*/ 653909 w 3878236"/>
                <a:gd name="connsiteY20" fmla="*/ 2693936 h 4062887"/>
                <a:gd name="connsiteX21" fmla="*/ 733500 w 3878236"/>
                <a:gd name="connsiteY21" fmla="*/ 2796256 h 4062887"/>
                <a:gd name="connsiteX22" fmla="*/ 813091 w 3878236"/>
                <a:gd name="connsiteY22" fmla="*/ 2895093 h 4062887"/>
                <a:gd name="connsiteX23" fmla="*/ 896273 w 3878236"/>
                <a:gd name="connsiteY23" fmla="*/ 2990536 h 4062887"/>
                <a:gd name="connsiteX24" fmla="*/ 1072636 w 3878236"/>
                <a:gd name="connsiteY24" fmla="*/ 3170513 h 4062887"/>
                <a:gd name="connsiteX25" fmla="*/ 1468747 w 3878236"/>
                <a:gd name="connsiteY25" fmla="*/ 3470964 h 4062887"/>
                <a:gd name="connsiteX26" fmla="*/ 1687720 w 3878236"/>
                <a:gd name="connsiteY26" fmla="*/ 3583919 h 4062887"/>
                <a:gd name="connsiteX27" fmla="*/ 1918825 w 3878236"/>
                <a:gd name="connsiteY27" fmla="*/ 3669278 h 4062887"/>
                <a:gd name="connsiteX28" fmla="*/ 2159540 w 3878236"/>
                <a:gd name="connsiteY28" fmla="*/ 3728230 h 4062887"/>
                <a:gd name="connsiteX29" fmla="*/ 2407729 w 3878236"/>
                <a:gd name="connsiteY29" fmla="*/ 3761238 h 4062887"/>
                <a:gd name="connsiteX30" fmla="*/ 2660479 w 3878236"/>
                <a:gd name="connsiteY30" fmla="*/ 3771598 h 4062887"/>
                <a:gd name="connsiteX31" fmla="*/ 2723278 w 3878236"/>
                <a:gd name="connsiteY31" fmla="*/ 3771139 h 4062887"/>
                <a:gd name="connsiteX32" fmla="*/ 2754047 w 3878236"/>
                <a:gd name="connsiteY32" fmla="*/ 3770406 h 4062887"/>
                <a:gd name="connsiteX33" fmla="*/ 2784719 w 3878236"/>
                <a:gd name="connsiteY33" fmla="*/ 3768938 h 4062887"/>
                <a:gd name="connsiteX34" fmla="*/ 2906629 w 3878236"/>
                <a:gd name="connsiteY34" fmla="*/ 3758853 h 4062887"/>
                <a:gd name="connsiteX35" fmla="*/ 3376896 w 3878236"/>
                <a:gd name="connsiteY35" fmla="*/ 3638838 h 4062887"/>
                <a:gd name="connsiteX36" fmla="*/ 3599460 w 3878236"/>
                <a:gd name="connsiteY36" fmla="*/ 3534685 h 4062887"/>
                <a:gd name="connsiteX37" fmla="*/ 3814356 w 3878236"/>
                <a:gd name="connsiteY37" fmla="*/ 3407976 h 4062887"/>
                <a:gd name="connsiteX38" fmla="*/ 3878236 w 3878236"/>
                <a:gd name="connsiteY38" fmla="*/ 3364122 h 4062887"/>
                <a:gd name="connsiteX39" fmla="*/ 3878236 w 3878236"/>
                <a:gd name="connsiteY39" fmla="*/ 3711785 h 4062887"/>
                <a:gd name="connsiteX40" fmla="*/ 3754080 w 3878236"/>
                <a:gd name="connsiteY40" fmla="*/ 3788192 h 4062887"/>
                <a:gd name="connsiteX41" fmla="*/ 3499971 w 3878236"/>
                <a:gd name="connsiteY41" fmla="*/ 3910041 h 4062887"/>
                <a:gd name="connsiteX42" fmla="*/ 2943222 w 3878236"/>
                <a:gd name="connsiteY42" fmla="*/ 4051144 h 4062887"/>
                <a:gd name="connsiteX43" fmla="*/ 2799278 w 3878236"/>
                <a:gd name="connsiteY43" fmla="*/ 4061321 h 4062887"/>
                <a:gd name="connsiteX44" fmla="*/ 2763268 w 3878236"/>
                <a:gd name="connsiteY44" fmla="*/ 4062604 h 4062887"/>
                <a:gd name="connsiteX45" fmla="*/ 2727355 w 3878236"/>
                <a:gd name="connsiteY45" fmla="*/ 4062788 h 4062887"/>
                <a:gd name="connsiteX46" fmla="*/ 2656790 w 3878236"/>
                <a:gd name="connsiteY46" fmla="*/ 4061963 h 4062887"/>
                <a:gd name="connsiteX47" fmla="*/ 2516924 w 3878236"/>
                <a:gd name="connsiteY47" fmla="*/ 4056461 h 4062887"/>
                <a:gd name="connsiteX48" fmla="*/ 2376959 w 3878236"/>
                <a:gd name="connsiteY48" fmla="*/ 4043809 h 4062887"/>
                <a:gd name="connsiteX49" fmla="*/ 2098196 w 3878236"/>
                <a:gd name="connsiteY49" fmla="*/ 3998700 h 4062887"/>
                <a:gd name="connsiteX50" fmla="*/ 1825645 w 3878236"/>
                <a:gd name="connsiteY50" fmla="*/ 3920860 h 4062887"/>
                <a:gd name="connsiteX51" fmla="*/ 1566586 w 3878236"/>
                <a:gd name="connsiteY51" fmla="*/ 3807996 h 4062887"/>
                <a:gd name="connsiteX52" fmla="*/ 1328784 w 3878236"/>
                <a:gd name="connsiteY52" fmla="*/ 3661117 h 4062887"/>
                <a:gd name="connsiteX53" fmla="*/ 930925 w 3878236"/>
                <a:gd name="connsiteY53" fmla="*/ 3291079 h 4062887"/>
                <a:gd name="connsiteX54" fmla="*/ 769122 w 3878236"/>
                <a:gd name="connsiteY54" fmla="*/ 3081303 h 4062887"/>
                <a:gd name="connsiteX55" fmla="*/ 626149 w 3878236"/>
                <a:gd name="connsiteY55" fmla="*/ 2862544 h 4062887"/>
                <a:gd name="connsiteX56" fmla="*/ 559467 w 3878236"/>
                <a:gd name="connsiteY56" fmla="*/ 2753990 h 4062887"/>
                <a:gd name="connsiteX57" fmla="*/ 490165 w 3878236"/>
                <a:gd name="connsiteY57" fmla="*/ 2647269 h 4062887"/>
                <a:gd name="connsiteX58" fmla="*/ 345542 w 3878236"/>
                <a:gd name="connsiteY58" fmla="*/ 2434743 h 4062887"/>
                <a:gd name="connsiteX59" fmla="*/ 274784 w 3878236"/>
                <a:gd name="connsiteY59" fmla="*/ 2326648 h 4062887"/>
                <a:gd name="connsiteX60" fmla="*/ 207422 w 3878236"/>
                <a:gd name="connsiteY60" fmla="*/ 2216167 h 4062887"/>
                <a:gd name="connsiteX61" fmla="*/ 93956 w 3878236"/>
                <a:gd name="connsiteY61" fmla="*/ 1984388 h 4062887"/>
                <a:gd name="connsiteX62" fmla="*/ 22422 w 3878236"/>
                <a:gd name="connsiteY62" fmla="*/ 1738399 h 4062887"/>
                <a:gd name="connsiteX63" fmla="*/ 0 w 3878236"/>
                <a:gd name="connsiteY63" fmla="*/ 1484891 h 4062887"/>
                <a:gd name="connsiteX64" fmla="*/ 200337 w 3878236"/>
                <a:gd name="connsiteY64" fmla="*/ 491671 h 4062887"/>
                <a:gd name="connsiteX65" fmla="*/ 308076 w 3878236"/>
                <a:gd name="connsiteY65" fmla="*/ 256776 h 4062887"/>
                <a:gd name="connsiteX66" fmla="*/ 437072 w 3878236"/>
                <a:gd name="connsiteY66" fmla="*/ 30498 h 4062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878236" h="4062887">
                  <a:moveTo>
                    <a:pt x="458236" y="0"/>
                  </a:moveTo>
                  <a:lnTo>
                    <a:pt x="626135" y="0"/>
                  </a:lnTo>
                  <a:lnTo>
                    <a:pt x="541802" y="96785"/>
                  </a:lnTo>
                  <a:cubicBezTo>
                    <a:pt x="489388" y="162616"/>
                    <a:pt x="439790" y="230737"/>
                    <a:pt x="393588" y="301059"/>
                  </a:cubicBezTo>
                  <a:cubicBezTo>
                    <a:pt x="348163" y="371748"/>
                    <a:pt x="305261" y="444179"/>
                    <a:pt x="267407" y="519085"/>
                  </a:cubicBezTo>
                  <a:cubicBezTo>
                    <a:pt x="257604" y="537697"/>
                    <a:pt x="248480" y="556584"/>
                    <a:pt x="239453" y="575472"/>
                  </a:cubicBezTo>
                  <a:lnTo>
                    <a:pt x="225864" y="603893"/>
                  </a:lnTo>
                  <a:lnTo>
                    <a:pt x="212955" y="632590"/>
                  </a:lnTo>
                  <a:cubicBezTo>
                    <a:pt x="204511" y="651753"/>
                    <a:pt x="195969" y="670915"/>
                    <a:pt x="188301" y="690444"/>
                  </a:cubicBezTo>
                  <a:cubicBezTo>
                    <a:pt x="180633" y="709972"/>
                    <a:pt x="172189" y="729227"/>
                    <a:pt x="165201" y="748939"/>
                  </a:cubicBezTo>
                  <a:cubicBezTo>
                    <a:pt x="135305" y="827237"/>
                    <a:pt x="109971" y="907186"/>
                    <a:pt x="90074" y="988511"/>
                  </a:cubicBezTo>
                  <a:cubicBezTo>
                    <a:pt x="49696" y="1150792"/>
                    <a:pt x="29022" y="1317842"/>
                    <a:pt x="29119" y="1484891"/>
                  </a:cubicBezTo>
                  <a:cubicBezTo>
                    <a:pt x="29604" y="1568141"/>
                    <a:pt x="37855" y="1651207"/>
                    <a:pt x="54743" y="1732714"/>
                  </a:cubicBezTo>
                  <a:cubicBezTo>
                    <a:pt x="72506" y="1814039"/>
                    <a:pt x="98227" y="1893621"/>
                    <a:pt x="132976" y="1969719"/>
                  </a:cubicBezTo>
                  <a:cubicBezTo>
                    <a:pt x="141226" y="1988882"/>
                    <a:pt x="150835" y="2007585"/>
                    <a:pt x="159959" y="2026381"/>
                  </a:cubicBezTo>
                  <a:cubicBezTo>
                    <a:pt x="169860" y="2044901"/>
                    <a:pt x="179274" y="2063604"/>
                    <a:pt x="189951" y="2081758"/>
                  </a:cubicBezTo>
                  <a:cubicBezTo>
                    <a:pt x="210334" y="2118432"/>
                    <a:pt x="233046" y="2154006"/>
                    <a:pt x="256439" y="2189121"/>
                  </a:cubicBezTo>
                  <a:cubicBezTo>
                    <a:pt x="279734" y="2224328"/>
                    <a:pt x="304679" y="2258617"/>
                    <a:pt x="329818" y="2292816"/>
                  </a:cubicBezTo>
                  <a:cubicBezTo>
                    <a:pt x="355345" y="2326740"/>
                    <a:pt x="381844" y="2360204"/>
                    <a:pt x="408438" y="2393577"/>
                  </a:cubicBezTo>
                  <a:cubicBezTo>
                    <a:pt x="461725" y="2460416"/>
                    <a:pt x="517440" y="2525879"/>
                    <a:pt x="572086" y="2592900"/>
                  </a:cubicBezTo>
                  <a:cubicBezTo>
                    <a:pt x="599554" y="2626273"/>
                    <a:pt x="626926" y="2659921"/>
                    <a:pt x="653909" y="2693936"/>
                  </a:cubicBezTo>
                  <a:cubicBezTo>
                    <a:pt x="680796" y="2727676"/>
                    <a:pt x="707487" y="2763525"/>
                    <a:pt x="733500" y="2796256"/>
                  </a:cubicBezTo>
                  <a:cubicBezTo>
                    <a:pt x="759319" y="2829813"/>
                    <a:pt x="786399" y="2862362"/>
                    <a:pt x="813091" y="2895093"/>
                  </a:cubicBezTo>
                  <a:cubicBezTo>
                    <a:pt x="840560" y="2927274"/>
                    <a:pt x="867834" y="2959455"/>
                    <a:pt x="896273" y="2990536"/>
                  </a:cubicBezTo>
                  <a:cubicBezTo>
                    <a:pt x="952764" y="3053066"/>
                    <a:pt x="1011486" y="3113302"/>
                    <a:pt x="1072636" y="3170513"/>
                  </a:cubicBezTo>
                  <a:cubicBezTo>
                    <a:pt x="1195128" y="3284660"/>
                    <a:pt x="1327328" y="3386522"/>
                    <a:pt x="1468747" y="3470964"/>
                  </a:cubicBezTo>
                  <a:cubicBezTo>
                    <a:pt x="1539603" y="3512956"/>
                    <a:pt x="1612303" y="3551463"/>
                    <a:pt x="1687720" y="3583919"/>
                  </a:cubicBezTo>
                  <a:cubicBezTo>
                    <a:pt x="1762652" y="3617292"/>
                    <a:pt x="1840010" y="3645440"/>
                    <a:pt x="1918825" y="3669278"/>
                  </a:cubicBezTo>
                  <a:cubicBezTo>
                    <a:pt x="1997640" y="3693207"/>
                    <a:pt x="2078007" y="3712553"/>
                    <a:pt x="2159540" y="3728230"/>
                  </a:cubicBezTo>
                  <a:cubicBezTo>
                    <a:pt x="2241170" y="3743633"/>
                    <a:pt x="2324158" y="3754177"/>
                    <a:pt x="2407729" y="3761238"/>
                  </a:cubicBezTo>
                  <a:cubicBezTo>
                    <a:pt x="2491299" y="3768389"/>
                    <a:pt x="2575743" y="3771506"/>
                    <a:pt x="2660479" y="3771598"/>
                  </a:cubicBezTo>
                  <a:cubicBezTo>
                    <a:pt x="2681638" y="3771598"/>
                    <a:pt x="2703089" y="3771964"/>
                    <a:pt x="2723278" y="3771139"/>
                  </a:cubicBezTo>
                  <a:lnTo>
                    <a:pt x="2754047" y="3770406"/>
                  </a:lnTo>
                  <a:lnTo>
                    <a:pt x="2784719" y="3768938"/>
                  </a:lnTo>
                  <a:cubicBezTo>
                    <a:pt x="2825582" y="3767197"/>
                    <a:pt x="2866251" y="3763346"/>
                    <a:pt x="2906629" y="3758853"/>
                  </a:cubicBezTo>
                  <a:cubicBezTo>
                    <a:pt x="3068334" y="3740150"/>
                    <a:pt x="3225672" y="3699166"/>
                    <a:pt x="3376896" y="3638838"/>
                  </a:cubicBezTo>
                  <a:cubicBezTo>
                    <a:pt x="3452702" y="3608949"/>
                    <a:pt x="3526664" y="3573467"/>
                    <a:pt x="3599460" y="3534685"/>
                  </a:cubicBezTo>
                  <a:cubicBezTo>
                    <a:pt x="3672354" y="3496085"/>
                    <a:pt x="3743888" y="3453269"/>
                    <a:pt x="3814356" y="3407976"/>
                  </a:cubicBezTo>
                  <a:lnTo>
                    <a:pt x="3878236" y="3364122"/>
                  </a:lnTo>
                  <a:lnTo>
                    <a:pt x="3878236" y="3711785"/>
                  </a:lnTo>
                  <a:lnTo>
                    <a:pt x="3754080" y="3788192"/>
                  </a:lnTo>
                  <a:cubicBezTo>
                    <a:pt x="3672450" y="3832843"/>
                    <a:pt x="3588007" y="3874284"/>
                    <a:pt x="3499971" y="3910041"/>
                  </a:cubicBezTo>
                  <a:cubicBezTo>
                    <a:pt x="3324482" y="3982472"/>
                    <a:pt x="3134920" y="4030882"/>
                    <a:pt x="2943222" y="4051144"/>
                  </a:cubicBezTo>
                  <a:cubicBezTo>
                    <a:pt x="2895272" y="4055911"/>
                    <a:pt x="2847227" y="4059763"/>
                    <a:pt x="2799278" y="4061321"/>
                  </a:cubicBezTo>
                  <a:lnTo>
                    <a:pt x="2763268" y="4062604"/>
                  </a:lnTo>
                  <a:lnTo>
                    <a:pt x="2727355" y="4062788"/>
                  </a:lnTo>
                  <a:cubicBezTo>
                    <a:pt x="2703089" y="4063155"/>
                    <a:pt x="2680085" y="4062421"/>
                    <a:pt x="2656790" y="4061963"/>
                  </a:cubicBezTo>
                  <a:cubicBezTo>
                    <a:pt x="2610297" y="4061413"/>
                    <a:pt x="2563514" y="4058754"/>
                    <a:pt x="2516924" y="4056461"/>
                  </a:cubicBezTo>
                  <a:cubicBezTo>
                    <a:pt x="2470237" y="4052795"/>
                    <a:pt x="2423549" y="4049402"/>
                    <a:pt x="2376959" y="4043809"/>
                  </a:cubicBezTo>
                  <a:cubicBezTo>
                    <a:pt x="2283683" y="4033265"/>
                    <a:pt x="2190503" y="4018871"/>
                    <a:pt x="2098196" y="3998700"/>
                  </a:cubicBezTo>
                  <a:cubicBezTo>
                    <a:pt x="2005891" y="3978530"/>
                    <a:pt x="1914652" y="3952583"/>
                    <a:pt x="1825645" y="3920860"/>
                  </a:cubicBezTo>
                  <a:cubicBezTo>
                    <a:pt x="1736639" y="3889045"/>
                    <a:pt x="1649963" y="3851089"/>
                    <a:pt x="1566586" y="3807996"/>
                  </a:cubicBezTo>
                  <a:cubicBezTo>
                    <a:pt x="1483501" y="3764263"/>
                    <a:pt x="1403716" y="3715395"/>
                    <a:pt x="1328784" y="3661117"/>
                  </a:cubicBezTo>
                  <a:cubicBezTo>
                    <a:pt x="1178337" y="3553113"/>
                    <a:pt x="1046527" y="3426497"/>
                    <a:pt x="930925" y="3291079"/>
                  </a:cubicBezTo>
                  <a:cubicBezTo>
                    <a:pt x="873367" y="3223048"/>
                    <a:pt x="819789" y="3152818"/>
                    <a:pt x="769122" y="3081303"/>
                  </a:cubicBezTo>
                  <a:cubicBezTo>
                    <a:pt x="718358" y="3009790"/>
                    <a:pt x="670992" y="2936717"/>
                    <a:pt x="626149" y="2862544"/>
                  </a:cubicBezTo>
                  <a:cubicBezTo>
                    <a:pt x="603243" y="2825046"/>
                    <a:pt x="582277" y="2789930"/>
                    <a:pt x="559467" y="2753990"/>
                  </a:cubicBezTo>
                  <a:cubicBezTo>
                    <a:pt x="536852" y="2718325"/>
                    <a:pt x="513849" y="2682660"/>
                    <a:pt x="490165" y="2647269"/>
                  </a:cubicBezTo>
                  <a:lnTo>
                    <a:pt x="345542" y="2434743"/>
                  </a:lnTo>
                  <a:cubicBezTo>
                    <a:pt x="321567" y="2398987"/>
                    <a:pt x="297884" y="2363046"/>
                    <a:pt x="274784" y="2326648"/>
                  </a:cubicBezTo>
                  <a:cubicBezTo>
                    <a:pt x="251682" y="2290248"/>
                    <a:pt x="228776" y="2253759"/>
                    <a:pt x="207422" y="2216167"/>
                  </a:cubicBezTo>
                  <a:cubicBezTo>
                    <a:pt x="164618" y="2141353"/>
                    <a:pt x="125308" y="2064338"/>
                    <a:pt x="93956" y="1984388"/>
                  </a:cubicBezTo>
                  <a:cubicBezTo>
                    <a:pt x="62023" y="1904715"/>
                    <a:pt x="38340" y="1822107"/>
                    <a:pt x="22422" y="1738399"/>
                  </a:cubicBezTo>
                  <a:cubicBezTo>
                    <a:pt x="7183" y="1654692"/>
                    <a:pt x="0" y="1569700"/>
                    <a:pt x="0" y="1484891"/>
                  </a:cubicBezTo>
                  <a:cubicBezTo>
                    <a:pt x="1262" y="1146758"/>
                    <a:pt x="70468" y="809542"/>
                    <a:pt x="200337" y="491671"/>
                  </a:cubicBezTo>
                  <a:cubicBezTo>
                    <a:pt x="232950" y="412273"/>
                    <a:pt x="268280" y="333607"/>
                    <a:pt x="308076" y="256776"/>
                  </a:cubicBezTo>
                  <a:cubicBezTo>
                    <a:pt x="347290" y="179668"/>
                    <a:pt x="390482" y="104213"/>
                    <a:pt x="437072" y="3049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5D01A87-EFF2-48AC-9C6B-C4653A80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9928" y="0"/>
              <a:ext cx="3859024" cy="3823730"/>
            </a:xfrm>
            <a:custGeom>
              <a:avLst/>
              <a:gdLst>
                <a:gd name="connsiteX0" fmla="*/ 517815 w 3859024"/>
                <a:gd name="connsiteY0" fmla="*/ 0 h 3823730"/>
                <a:gd name="connsiteX1" fmla="*/ 810951 w 3859024"/>
                <a:gd name="connsiteY1" fmla="*/ 0 h 3823730"/>
                <a:gd name="connsiteX2" fmla="*/ 657209 w 3859024"/>
                <a:gd name="connsiteY2" fmla="*/ 169897 h 3823730"/>
                <a:gd name="connsiteX3" fmla="*/ 398052 w 3859024"/>
                <a:gd name="connsiteY3" fmla="*/ 551580 h 3823730"/>
                <a:gd name="connsiteX4" fmla="*/ 222175 w 3859024"/>
                <a:gd name="connsiteY4" fmla="*/ 973513 h 3823730"/>
                <a:gd name="connsiteX5" fmla="*/ 158212 w 3859024"/>
                <a:gd name="connsiteY5" fmla="*/ 1423317 h 3823730"/>
                <a:gd name="connsiteX6" fmla="*/ 185195 w 3859024"/>
                <a:gd name="connsiteY6" fmla="*/ 1643544 h 3823730"/>
                <a:gd name="connsiteX7" fmla="*/ 264883 w 3859024"/>
                <a:gd name="connsiteY7" fmla="*/ 1849559 h 3823730"/>
                <a:gd name="connsiteX8" fmla="*/ 320500 w 3859024"/>
                <a:gd name="connsiteY8" fmla="*/ 1946562 h 3823730"/>
                <a:gd name="connsiteX9" fmla="*/ 384367 w 3859024"/>
                <a:gd name="connsiteY9" fmla="*/ 2040447 h 3823730"/>
                <a:gd name="connsiteX10" fmla="*/ 531902 w 3859024"/>
                <a:gd name="connsiteY10" fmla="*/ 2221891 h 3823730"/>
                <a:gd name="connsiteX11" fmla="*/ 691569 w 3859024"/>
                <a:gd name="connsiteY11" fmla="*/ 2404710 h 3823730"/>
                <a:gd name="connsiteX12" fmla="*/ 770966 w 3859024"/>
                <a:gd name="connsiteY12" fmla="*/ 2500153 h 3823730"/>
                <a:gd name="connsiteX13" fmla="*/ 809112 w 3859024"/>
                <a:gd name="connsiteY13" fmla="*/ 2547004 h 3823730"/>
                <a:gd name="connsiteX14" fmla="*/ 846480 w 3859024"/>
                <a:gd name="connsiteY14" fmla="*/ 2591838 h 3823730"/>
                <a:gd name="connsiteX15" fmla="*/ 1167563 w 3859024"/>
                <a:gd name="connsiteY15" fmla="*/ 2923186 h 3823730"/>
                <a:gd name="connsiteX16" fmla="*/ 1338296 w 3859024"/>
                <a:gd name="connsiteY16" fmla="*/ 3072266 h 3823730"/>
                <a:gd name="connsiteX17" fmla="*/ 1517085 w 3859024"/>
                <a:gd name="connsiteY17" fmla="*/ 3209700 h 3823730"/>
                <a:gd name="connsiteX18" fmla="*/ 1916496 w 3859024"/>
                <a:gd name="connsiteY18" fmla="*/ 3427085 h 3823730"/>
                <a:gd name="connsiteX19" fmla="*/ 2139934 w 3859024"/>
                <a:gd name="connsiteY19" fmla="*/ 3488513 h 3823730"/>
                <a:gd name="connsiteX20" fmla="*/ 2197200 w 3859024"/>
                <a:gd name="connsiteY20" fmla="*/ 3499332 h 3823730"/>
                <a:gd name="connsiteX21" fmla="*/ 2254952 w 3859024"/>
                <a:gd name="connsiteY21" fmla="*/ 3508409 h 3823730"/>
                <a:gd name="connsiteX22" fmla="*/ 2371524 w 3859024"/>
                <a:gd name="connsiteY22" fmla="*/ 3521428 h 3823730"/>
                <a:gd name="connsiteX23" fmla="*/ 2430150 w 3859024"/>
                <a:gd name="connsiteY23" fmla="*/ 3525646 h 3823730"/>
                <a:gd name="connsiteX24" fmla="*/ 2488970 w 3859024"/>
                <a:gd name="connsiteY24" fmla="*/ 3528580 h 3823730"/>
                <a:gd name="connsiteX25" fmla="*/ 2547984 w 3859024"/>
                <a:gd name="connsiteY25" fmla="*/ 3529863 h 3823730"/>
                <a:gd name="connsiteX26" fmla="*/ 2607095 w 3859024"/>
                <a:gd name="connsiteY26" fmla="*/ 3529589 h 3823730"/>
                <a:gd name="connsiteX27" fmla="*/ 2636698 w 3859024"/>
                <a:gd name="connsiteY27" fmla="*/ 3529313 h 3823730"/>
                <a:gd name="connsiteX28" fmla="*/ 2665235 w 3859024"/>
                <a:gd name="connsiteY28" fmla="*/ 3528121 h 3823730"/>
                <a:gd name="connsiteX29" fmla="*/ 2693674 w 3859024"/>
                <a:gd name="connsiteY29" fmla="*/ 3526746 h 3823730"/>
                <a:gd name="connsiteX30" fmla="*/ 2722016 w 3859024"/>
                <a:gd name="connsiteY30" fmla="*/ 3524546 h 3823730"/>
                <a:gd name="connsiteX31" fmla="*/ 2834415 w 3859024"/>
                <a:gd name="connsiteY31" fmla="*/ 3511435 h 3823730"/>
                <a:gd name="connsiteX32" fmla="*/ 3262556 w 3859024"/>
                <a:gd name="connsiteY32" fmla="*/ 3378675 h 3823730"/>
                <a:gd name="connsiteX33" fmla="*/ 3658086 w 3859024"/>
                <a:gd name="connsiteY33" fmla="*/ 3145979 h 3823730"/>
                <a:gd name="connsiteX34" fmla="*/ 3753983 w 3859024"/>
                <a:gd name="connsiteY34" fmla="*/ 3077583 h 3823730"/>
                <a:gd name="connsiteX35" fmla="*/ 3849881 w 3859024"/>
                <a:gd name="connsiteY35" fmla="*/ 3006894 h 3823730"/>
                <a:gd name="connsiteX36" fmla="*/ 3859024 w 3859024"/>
                <a:gd name="connsiteY36" fmla="*/ 2999988 h 3823730"/>
                <a:gd name="connsiteX37" fmla="*/ 3859024 w 3859024"/>
                <a:gd name="connsiteY37" fmla="*/ 3461786 h 3823730"/>
                <a:gd name="connsiteX38" fmla="*/ 3652845 w 3859024"/>
                <a:gd name="connsiteY38" fmla="*/ 3578823 h 3823730"/>
                <a:gd name="connsiteX39" fmla="*/ 3408248 w 3859024"/>
                <a:gd name="connsiteY39" fmla="*/ 3688569 h 3823730"/>
                <a:gd name="connsiteX40" fmla="*/ 2875958 w 3859024"/>
                <a:gd name="connsiteY40" fmla="*/ 3814819 h 3823730"/>
                <a:gd name="connsiteX41" fmla="*/ 2738905 w 3859024"/>
                <a:gd name="connsiteY41" fmla="*/ 3822979 h 3823730"/>
                <a:gd name="connsiteX42" fmla="*/ 2704642 w 3859024"/>
                <a:gd name="connsiteY42" fmla="*/ 3823712 h 3823730"/>
                <a:gd name="connsiteX43" fmla="*/ 2670476 w 3859024"/>
                <a:gd name="connsiteY43" fmla="*/ 3823529 h 3823730"/>
                <a:gd name="connsiteX44" fmla="*/ 2636408 w 3859024"/>
                <a:gd name="connsiteY44" fmla="*/ 3823162 h 3823730"/>
                <a:gd name="connsiteX45" fmla="*/ 2603310 w 3859024"/>
                <a:gd name="connsiteY45" fmla="*/ 3821971 h 3823730"/>
                <a:gd name="connsiteX46" fmla="*/ 2338911 w 3859024"/>
                <a:gd name="connsiteY46" fmla="*/ 3802074 h 3823730"/>
                <a:gd name="connsiteX47" fmla="*/ 2076164 w 3859024"/>
                <a:gd name="connsiteY47" fmla="*/ 3758250 h 3823730"/>
                <a:gd name="connsiteX48" fmla="*/ 1818075 w 3859024"/>
                <a:gd name="connsiteY48" fmla="*/ 3689578 h 3823730"/>
                <a:gd name="connsiteX49" fmla="*/ 1324027 w 3859024"/>
                <a:gd name="connsiteY49" fmla="*/ 3483104 h 3823730"/>
                <a:gd name="connsiteX50" fmla="*/ 907727 w 3859024"/>
                <a:gd name="connsiteY50" fmla="*/ 3161658 h 3823730"/>
                <a:gd name="connsiteX51" fmla="*/ 738935 w 3859024"/>
                <a:gd name="connsiteY51" fmla="*/ 2968204 h 3823730"/>
                <a:gd name="connsiteX52" fmla="*/ 591498 w 3859024"/>
                <a:gd name="connsiteY52" fmla="*/ 2763380 h 3823730"/>
                <a:gd name="connsiteX53" fmla="*/ 557041 w 3859024"/>
                <a:gd name="connsiteY53" fmla="*/ 2711212 h 3823730"/>
                <a:gd name="connsiteX54" fmla="*/ 524137 w 3859024"/>
                <a:gd name="connsiteY54" fmla="*/ 2660602 h 3823730"/>
                <a:gd name="connsiteX55" fmla="*/ 459202 w 3859024"/>
                <a:gd name="connsiteY55" fmla="*/ 2562498 h 3823730"/>
                <a:gd name="connsiteX56" fmla="*/ 324673 w 3859024"/>
                <a:gd name="connsiteY56" fmla="*/ 2362077 h 3823730"/>
                <a:gd name="connsiteX57" fmla="*/ 193348 w 3859024"/>
                <a:gd name="connsiteY57" fmla="*/ 2150193 h 3823730"/>
                <a:gd name="connsiteX58" fmla="*/ 134141 w 3859024"/>
                <a:gd name="connsiteY58" fmla="*/ 2037880 h 3823730"/>
                <a:gd name="connsiteX59" fmla="*/ 83862 w 3859024"/>
                <a:gd name="connsiteY59" fmla="*/ 1920339 h 3823730"/>
                <a:gd name="connsiteX60" fmla="*/ 45329 w 3859024"/>
                <a:gd name="connsiteY60" fmla="*/ 1798399 h 3823730"/>
                <a:gd name="connsiteX61" fmla="*/ 30963 w 3859024"/>
                <a:gd name="connsiteY61" fmla="*/ 1736238 h 3823730"/>
                <a:gd name="connsiteX62" fmla="*/ 24655 w 3859024"/>
                <a:gd name="connsiteY62" fmla="*/ 1705064 h 3823730"/>
                <a:gd name="connsiteX63" fmla="*/ 19413 w 3859024"/>
                <a:gd name="connsiteY63" fmla="*/ 1673800 h 3823730"/>
                <a:gd name="connsiteX64" fmla="*/ 0 w 3859024"/>
                <a:gd name="connsiteY64" fmla="*/ 1423317 h 3823730"/>
                <a:gd name="connsiteX65" fmla="*/ 53870 w 3859024"/>
                <a:gd name="connsiteY65" fmla="*/ 935280 h 3823730"/>
                <a:gd name="connsiteX66" fmla="*/ 215770 w 3859024"/>
                <a:gd name="connsiteY66" fmla="*/ 467689 h 3823730"/>
                <a:gd name="connsiteX67" fmla="*/ 480592 w 3859024"/>
                <a:gd name="connsiteY67" fmla="*/ 43968 h 382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859024" h="3823730">
                  <a:moveTo>
                    <a:pt x="517815" y="0"/>
                  </a:moveTo>
                  <a:lnTo>
                    <a:pt x="810951" y="0"/>
                  </a:lnTo>
                  <a:lnTo>
                    <a:pt x="657209" y="169897"/>
                  </a:lnTo>
                  <a:cubicBezTo>
                    <a:pt x="558303" y="289087"/>
                    <a:pt x="471043" y="416896"/>
                    <a:pt x="398052" y="551580"/>
                  </a:cubicBezTo>
                  <a:cubicBezTo>
                    <a:pt x="325062" y="686173"/>
                    <a:pt x="264301" y="827092"/>
                    <a:pt x="222175" y="973513"/>
                  </a:cubicBezTo>
                  <a:cubicBezTo>
                    <a:pt x="179954" y="1119567"/>
                    <a:pt x="158114" y="1271396"/>
                    <a:pt x="158212" y="1423317"/>
                  </a:cubicBezTo>
                  <a:cubicBezTo>
                    <a:pt x="159085" y="1497949"/>
                    <a:pt x="166850" y="1572030"/>
                    <a:pt x="185195" y="1643544"/>
                  </a:cubicBezTo>
                  <a:cubicBezTo>
                    <a:pt x="203249" y="1715150"/>
                    <a:pt x="231300" y="1783638"/>
                    <a:pt x="264883" y="1849559"/>
                  </a:cubicBezTo>
                  <a:cubicBezTo>
                    <a:pt x="281869" y="1882474"/>
                    <a:pt x="300700" y="1914747"/>
                    <a:pt x="320500" y="1946562"/>
                  </a:cubicBezTo>
                  <a:cubicBezTo>
                    <a:pt x="340592" y="1978284"/>
                    <a:pt x="362043" y="2009549"/>
                    <a:pt x="384367" y="2040447"/>
                  </a:cubicBezTo>
                  <a:cubicBezTo>
                    <a:pt x="429598" y="2102059"/>
                    <a:pt x="479876" y="2161837"/>
                    <a:pt x="531902" y="2221891"/>
                  </a:cubicBezTo>
                  <a:cubicBezTo>
                    <a:pt x="583927" y="2282036"/>
                    <a:pt x="638282" y="2342181"/>
                    <a:pt x="691569" y="2404710"/>
                  </a:cubicBezTo>
                  <a:cubicBezTo>
                    <a:pt x="718261" y="2435882"/>
                    <a:pt x="744662" y="2467788"/>
                    <a:pt x="770966" y="2500153"/>
                  </a:cubicBezTo>
                  <a:lnTo>
                    <a:pt x="809112" y="2547004"/>
                  </a:lnTo>
                  <a:cubicBezTo>
                    <a:pt x="821632" y="2561949"/>
                    <a:pt x="833571" y="2577261"/>
                    <a:pt x="846480" y="2591838"/>
                  </a:cubicBezTo>
                  <a:cubicBezTo>
                    <a:pt x="947232" y="2710478"/>
                    <a:pt x="1056523" y="2819674"/>
                    <a:pt x="1167563" y="2923186"/>
                  </a:cubicBezTo>
                  <a:cubicBezTo>
                    <a:pt x="1223374" y="2974713"/>
                    <a:pt x="1280155" y="3024498"/>
                    <a:pt x="1338296" y="3072266"/>
                  </a:cubicBezTo>
                  <a:cubicBezTo>
                    <a:pt x="1396436" y="3120033"/>
                    <a:pt x="1455644" y="3166242"/>
                    <a:pt x="1517085" y="3209700"/>
                  </a:cubicBezTo>
                  <a:cubicBezTo>
                    <a:pt x="1639480" y="3296801"/>
                    <a:pt x="1771485" y="3374641"/>
                    <a:pt x="1916496" y="3427085"/>
                  </a:cubicBezTo>
                  <a:cubicBezTo>
                    <a:pt x="1988808" y="3453307"/>
                    <a:pt x="2063740" y="3473385"/>
                    <a:pt x="2139934" y="3488513"/>
                  </a:cubicBezTo>
                  <a:cubicBezTo>
                    <a:pt x="2159055" y="3492089"/>
                    <a:pt x="2177982" y="3496216"/>
                    <a:pt x="2197200" y="3499332"/>
                  </a:cubicBezTo>
                  <a:lnTo>
                    <a:pt x="2254952" y="3508409"/>
                  </a:lnTo>
                  <a:cubicBezTo>
                    <a:pt x="2293680" y="3513268"/>
                    <a:pt x="2332409" y="3518403"/>
                    <a:pt x="2371524" y="3521428"/>
                  </a:cubicBezTo>
                  <a:cubicBezTo>
                    <a:pt x="2391034" y="3523170"/>
                    <a:pt x="2410544" y="3524821"/>
                    <a:pt x="2430150" y="3525646"/>
                  </a:cubicBezTo>
                  <a:cubicBezTo>
                    <a:pt x="2449757" y="3526562"/>
                    <a:pt x="2469266" y="3528029"/>
                    <a:pt x="2488970" y="3528580"/>
                  </a:cubicBezTo>
                  <a:lnTo>
                    <a:pt x="2547984" y="3529863"/>
                  </a:lnTo>
                  <a:cubicBezTo>
                    <a:pt x="2567590" y="3530321"/>
                    <a:pt x="2587391" y="3529680"/>
                    <a:pt x="2607095" y="3529589"/>
                  </a:cubicBezTo>
                  <a:lnTo>
                    <a:pt x="2636698" y="3529313"/>
                  </a:lnTo>
                  <a:cubicBezTo>
                    <a:pt x="2646308" y="3529038"/>
                    <a:pt x="2655723" y="3528489"/>
                    <a:pt x="2665235" y="3528121"/>
                  </a:cubicBezTo>
                  <a:cubicBezTo>
                    <a:pt x="2674747" y="3527663"/>
                    <a:pt x="2684260" y="3527388"/>
                    <a:pt x="2693674" y="3526746"/>
                  </a:cubicBezTo>
                  <a:lnTo>
                    <a:pt x="2722016" y="3524546"/>
                  </a:lnTo>
                  <a:cubicBezTo>
                    <a:pt x="2759774" y="3521703"/>
                    <a:pt x="2797240" y="3516936"/>
                    <a:pt x="2834415" y="3511435"/>
                  </a:cubicBezTo>
                  <a:cubicBezTo>
                    <a:pt x="2983212" y="3488147"/>
                    <a:pt x="3126281" y="3442580"/>
                    <a:pt x="3262556" y="3378675"/>
                  </a:cubicBezTo>
                  <a:cubicBezTo>
                    <a:pt x="3399318" y="3315505"/>
                    <a:pt x="3529478" y="3234639"/>
                    <a:pt x="3658086" y="3145979"/>
                  </a:cubicBezTo>
                  <a:cubicBezTo>
                    <a:pt x="3690214" y="3123884"/>
                    <a:pt x="3722147" y="3100779"/>
                    <a:pt x="3753983" y="3077583"/>
                  </a:cubicBezTo>
                  <a:cubicBezTo>
                    <a:pt x="3786014" y="3054387"/>
                    <a:pt x="3817948" y="3030824"/>
                    <a:pt x="3849881" y="3006894"/>
                  </a:cubicBezTo>
                  <a:lnTo>
                    <a:pt x="3859024" y="2999988"/>
                  </a:lnTo>
                  <a:lnTo>
                    <a:pt x="3859024" y="3461786"/>
                  </a:lnTo>
                  <a:lnTo>
                    <a:pt x="3652845" y="3578823"/>
                  </a:lnTo>
                  <a:cubicBezTo>
                    <a:pt x="3574224" y="3619073"/>
                    <a:pt x="3492886" y="3656479"/>
                    <a:pt x="3408248" y="3688569"/>
                  </a:cubicBezTo>
                  <a:cubicBezTo>
                    <a:pt x="3239748" y="3753666"/>
                    <a:pt x="3058726" y="3797582"/>
                    <a:pt x="2875958" y="3814819"/>
                  </a:cubicBezTo>
                  <a:cubicBezTo>
                    <a:pt x="2830241" y="3818945"/>
                    <a:pt x="2784525" y="3822062"/>
                    <a:pt x="2738905" y="3822979"/>
                  </a:cubicBezTo>
                  <a:lnTo>
                    <a:pt x="2704642" y="3823712"/>
                  </a:lnTo>
                  <a:cubicBezTo>
                    <a:pt x="2693286" y="3823804"/>
                    <a:pt x="2681833" y="3823529"/>
                    <a:pt x="2670476" y="3823529"/>
                  </a:cubicBezTo>
                  <a:lnTo>
                    <a:pt x="2636408" y="3823162"/>
                  </a:lnTo>
                  <a:lnTo>
                    <a:pt x="2603310" y="3821971"/>
                  </a:lnTo>
                  <a:cubicBezTo>
                    <a:pt x="2515176" y="3819311"/>
                    <a:pt x="2426850" y="3812711"/>
                    <a:pt x="2338911" y="3802074"/>
                  </a:cubicBezTo>
                  <a:cubicBezTo>
                    <a:pt x="2250876" y="3791990"/>
                    <a:pt x="2163034" y="3777503"/>
                    <a:pt x="2076164" y="3758250"/>
                  </a:cubicBezTo>
                  <a:cubicBezTo>
                    <a:pt x="1989390" y="3738813"/>
                    <a:pt x="1903295" y="3715799"/>
                    <a:pt x="1818075" y="3689578"/>
                  </a:cubicBezTo>
                  <a:cubicBezTo>
                    <a:pt x="1647925" y="3636676"/>
                    <a:pt x="1479715" y="3570846"/>
                    <a:pt x="1324027" y="3483104"/>
                  </a:cubicBezTo>
                  <a:cubicBezTo>
                    <a:pt x="1168242" y="3395545"/>
                    <a:pt x="1029152" y="3284515"/>
                    <a:pt x="907727" y="3161658"/>
                  </a:cubicBezTo>
                  <a:cubicBezTo>
                    <a:pt x="846675" y="3100321"/>
                    <a:pt x="791155" y="3035041"/>
                    <a:pt x="738935" y="2968204"/>
                  </a:cubicBezTo>
                  <a:cubicBezTo>
                    <a:pt x="687008" y="2901090"/>
                    <a:pt x="637602" y="2832969"/>
                    <a:pt x="591498" y="2763380"/>
                  </a:cubicBezTo>
                  <a:cubicBezTo>
                    <a:pt x="579656" y="2746143"/>
                    <a:pt x="568494" y="2728631"/>
                    <a:pt x="557041" y="2711212"/>
                  </a:cubicBezTo>
                  <a:lnTo>
                    <a:pt x="524137" y="2660602"/>
                  </a:lnTo>
                  <a:cubicBezTo>
                    <a:pt x="503074" y="2627871"/>
                    <a:pt x="481236" y="2595414"/>
                    <a:pt x="459202" y="2562498"/>
                  </a:cubicBezTo>
                  <a:lnTo>
                    <a:pt x="324673" y="2362077"/>
                  </a:lnTo>
                  <a:cubicBezTo>
                    <a:pt x="279540" y="2293772"/>
                    <a:pt x="234988" y="2223449"/>
                    <a:pt x="193348" y="2150193"/>
                  </a:cubicBezTo>
                  <a:cubicBezTo>
                    <a:pt x="172576" y="2113519"/>
                    <a:pt x="152485" y="2076203"/>
                    <a:pt x="134141" y="2037880"/>
                  </a:cubicBezTo>
                  <a:cubicBezTo>
                    <a:pt x="115893" y="1999464"/>
                    <a:pt x="98907" y="1960315"/>
                    <a:pt x="83862" y="1920339"/>
                  </a:cubicBezTo>
                  <a:cubicBezTo>
                    <a:pt x="69108" y="1880274"/>
                    <a:pt x="56005" y="1839657"/>
                    <a:pt x="45329" y="1798399"/>
                  </a:cubicBezTo>
                  <a:cubicBezTo>
                    <a:pt x="40281" y="1777771"/>
                    <a:pt x="35137" y="1757049"/>
                    <a:pt x="30963" y="1736238"/>
                  </a:cubicBezTo>
                  <a:lnTo>
                    <a:pt x="24655" y="1705064"/>
                  </a:lnTo>
                  <a:lnTo>
                    <a:pt x="19413" y="1673800"/>
                  </a:lnTo>
                  <a:cubicBezTo>
                    <a:pt x="5727" y="1590367"/>
                    <a:pt x="0" y="1506476"/>
                    <a:pt x="0" y="1423317"/>
                  </a:cubicBezTo>
                  <a:cubicBezTo>
                    <a:pt x="388" y="1259661"/>
                    <a:pt x="18539" y="1096004"/>
                    <a:pt x="53870" y="935280"/>
                  </a:cubicBezTo>
                  <a:cubicBezTo>
                    <a:pt x="89104" y="774649"/>
                    <a:pt x="143070" y="617135"/>
                    <a:pt x="215770" y="467689"/>
                  </a:cubicBezTo>
                  <a:cubicBezTo>
                    <a:pt x="288809" y="318243"/>
                    <a:pt x="378252" y="176659"/>
                    <a:pt x="480592" y="439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02A9F7-5A86-41CD-98C2-5EE1CDE3A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8916" y="0"/>
              <a:ext cx="3860037" cy="3776788"/>
            </a:xfrm>
            <a:custGeom>
              <a:avLst/>
              <a:gdLst>
                <a:gd name="connsiteX0" fmla="*/ 558050 w 3860037"/>
                <a:gd name="connsiteY0" fmla="*/ 0 h 3776788"/>
                <a:gd name="connsiteX1" fmla="*/ 1224060 w 3860037"/>
                <a:gd name="connsiteY1" fmla="*/ 0 h 3776788"/>
                <a:gd name="connsiteX2" fmla="*/ 1103279 w 3860037"/>
                <a:gd name="connsiteY2" fmla="*/ 106801 h 3776788"/>
                <a:gd name="connsiteX3" fmla="*/ 697005 w 3860037"/>
                <a:gd name="connsiteY3" fmla="*/ 633564 h 3776788"/>
                <a:gd name="connsiteX4" fmla="*/ 485409 w 3860037"/>
                <a:gd name="connsiteY4" fmla="*/ 1429020 h 3776788"/>
                <a:gd name="connsiteX5" fmla="*/ 835609 w 3860037"/>
                <a:gd name="connsiteY5" fmla="*/ 2167631 h 3776788"/>
                <a:gd name="connsiteX6" fmla="*/ 1012069 w 3860037"/>
                <a:gd name="connsiteY6" fmla="*/ 2402068 h 3776788"/>
                <a:gd name="connsiteX7" fmla="*/ 2667856 w 3860037"/>
                <a:gd name="connsiteY7" fmla="*/ 3318457 h 3776788"/>
                <a:gd name="connsiteX8" fmla="*/ 3757171 w 3860037"/>
                <a:gd name="connsiteY8" fmla="*/ 2876678 h 3776788"/>
                <a:gd name="connsiteX9" fmla="*/ 3860037 w 3860037"/>
                <a:gd name="connsiteY9" fmla="*/ 2801824 h 3776788"/>
                <a:gd name="connsiteX10" fmla="*/ 3860037 w 3860037"/>
                <a:gd name="connsiteY10" fmla="*/ 3372874 h 3776788"/>
                <a:gd name="connsiteX11" fmla="*/ 3694757 w 3860037"/>
                <a:gd name="connsiteY11" fmla="*/ 3476377 h 3776788"/>
                <a:gd name="connsiteX12" fmla="*/ 2667759 w 3860037"/>
                <a:gd name="connsiteY12" fmla="*/ 3776788 h 3776788"/>
                <a:gd name="connsiteX13" fmla="*/ 610425 w 3860037"/>
                <a:gd name="connsiteY13" fmla="*/ 2659336 h 3776788"/>
                <a:gd name="connsiteX14" fmla="*/ 0 w 3860037"/>
                <a:gd name="connsiteY14" fmla="*/ 1428928 h 3776788"/>
                <a:gd name="connsiteX15" fmla="*/ 405569 w 3860037"/>
                <a:gd name="connsiteY15" fmla="*/ 197288 h 377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0037" h="3776788">
                  <a:moveTo>
                    <a:pt x="558050" y="0"/>
                  </a:moveTo>
                  <a:lnTo>
                    <a:pt x="1224060" y="0"/>
                  </a:lnTo>
                  <a:lnTo>
                    <a:pt x="1103279" y="106801"/>
                  </a:lnTo>
                  <a:cubicBezTo>
                    <a:pt x="936215" y="268568"/>
                    <a:pt x="800012" y="445084"/>
                    <a:pt x="697005" y="633564"/>
                  </a:cubicBezTo>
                  <a:cubicBezTo>
                    <a:pt x="556653" y="890464"/>
                    <a:pt x="485409" y="1158092"/>
                    <a:pt x="485409" y="1429020"/>
                  </a:cubicBezTo>
                  <a:cubicBezTo>
                    <a:pt x="485409" y="1701873"/>
                    <a:pt x="599069" y="1861221"/>
                    <a:pt x="835609" y="2167631"/>
                  </a:cubicBezTo>
                  <a:cubicBezTo>
                    <a:pt x="892682" y="2241529"/>
                    <a:pt x="951696" y="2317994"/>
                    <a:pt x="1012069" y="2402068"/>
                  </a:cubicBezTo>
                  <a:cubicBezTo>
                    <a:pt x="1473407" y="3044412"/>
                    <a:pt x="1968619" y="3318457"/>
                    <a:pt x="2667856" y="3318457"/>
                  </a:cubicBezTo>
                  <a:cubicBezTo>
                    <a:pt x="3069403" y="3318457"/>
                    <a:pt x="3377389" y="3147529"/>
                    <a:pt x="3757171" y="2876678"/>
                  </a:cubicBezTo>
                  <a:lnTo>
                    <a:pt x="3860037" y="2801824"/>
                  </a:lnTo>
                  <a:lnTo>
                    <a:pt x="3860037" y="3372874"/>
                  </a:lnTo>
                  <a:lnTo>
                    <a:pt x="3694757" y="3476377"/>
                  </a:lnTo>
                  <a:cubicBezTo>
                    <a:pt x="3392861" y="3653193"/>
                    <a:pt x="3067353" y="3776788"/>
                    <a:pt x="2667759" y="3776788"/>
                  </a:cubicBezTo>
                  <a:cubicBezTo>
                    <a:pt x="1719653" y="3776788"/>
                    <a:pt x="1104085" y="3346695"/>
                    <a:pt x="610425" y="2659336"/>
                  </a:cubicBezTo>
                  <a:cubicBezTo>
                    <a:pt x="314191" y="2246938"/>
                    <a:pt x="0" y="1964091"/>
                    <a:pt x="0" y="1428928"/>
                  </a:cubicBezTo>
                  <a:cubicBezTo>
                    <a:pt x="0" y="982968"/>
                    <a:pt x="151158" y="563404"/>
                    <a:pt x="405569" y="1972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8535FA6-8D15-4E17-B087-AD3D45711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28916" y="0"/>
              <a:ext cx="3860037" cy="3776788"/>
            </a:xfrm>
            <a:custGeom>
              <a:avLst/>
              <a:gdLst>
                <a:gd name="connsiteX0" fmla="*/ 558050 w 3860037"/>
                <a:gd name="connsiteY0" fmla="*/ 0 h 3776788"/>
                <a:gd name="connsiteX1" fmla="*/ 1370196 w 3860037"/>
                <a:gd name="connsiteY1" fmla="*/ 0 h 3776788"/>
                <a:gd name="connsiteX2" fmla="*/ 1343634 w 3860037"/>
                <a:gd name="connsiteY2" fmla="*/ 19644 h 3776788"/>
                <a:gd name="connsiteX3" fmla="*/ 783196 w 3860037"/>
                <a:gd name="connsiteY3" fmla="*/ 675555 h 3776788"/>
                <a:gd name="connsiteX4" fmla="*/ 582374 w 3860037"/>
                <a:gd name="connsiteY4" fmla="*/ 1429020 h 3776788"/>
                <a:gd name="connsiteX5" fmla="*/ 913939 w 3860037"/>
                <a:gd name="connsiteY5" fmla="*/ 2113629 h 3776788"/>
                <a:gd name="connsiteX6" fmla="*/ 1092340 w 3860037"/>
                <a:gd name="connsiteY6" fmla="*/ 2350634 h 3776788"/>
                <a:gd name="connsiteX7" fmla="*/ 1772941 w 3860037"/>
                <a:gd name="connsiteY7" fmla="*/ 3006913 h 3776788"/>
                <a:gd name="connsiteX8" fmla="*/ 2667759 w 3860037"/>
                <a:gd name="connsiteY8" fmla="*/ 3226772 h 3776788"/>
                <a:gd name="connsiteX9" fmla="*/ 3243339 w 3860037"/>
                <a:gd name="connsiteY9" fmla="*/ 3086769 h 3776788"/>
                <a:gd name="connsiteX10" fmla="*/ 3702873 w 3860037"/>
                <a:gd name="connsiteY10" fmla="*/ 2800709 h 3776788"/>
                <a:gd name="connsiteX11" fmla="*/ 3860037 w 3860037"/>
                <a:gd name="connsiteY11" fmla="*/ 2686097 h 3776788"/>
                <a:gd name="connsiteX12" fmla="*/ 3860037 w 3860037"/>
                <a:gd name="connsiteY12" fmla="*/ 3372874 h 3776788"/>
                <a:gd name="connsiteX13" fmla="*/ 3694757 w 3860037"/>
                <a:gd name="connsiteY13" fmla="*/ 3476377 h 3776788"/>
                <a:gd name="connsiteX14" fmla="*/ 2667759 w 3860037"/>
                <a:gd name="connsiteY14" fmla="*/ 3776788 h 3776788"/>
                <a:gd name="connsiteX15" fmla="*/ 610425 w 3860037"/>
                <a:gd name="connsiteY15" fmla="*/ 2659336 h 3776788"/>
                <a:gd name="connsiteX16" fmla="*/ 0 w 3860037"/>
                <a:gd name="connsiteY16" fmla="*/ 1428928 h 3776788"/>
                <a:gd name="connsiteX17" fmla="*/ 405569 w 3860037"/>
                <a:gd name="connsiteY17" fmla="*/ 197288 h 377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60037" h="3776788">
                  <a:moveTo>
                    <a:pt x="558050" y="0"/>
                  </a:moveTo>
                  <a:lnTo>
                    <a:pt x="1370196" y="0"/>
                  </a:lnTo>
                  <a:lnTo>
                    <a:pt x="1343634" y="19644"/>
                  </a:lnTo>
                  <a:cubicBezTo>
                    <a:pt x="1106705" y="211357"/>
                    <a:pt x="912969" y="438184"/>
                    <a:pt x="783196" y="675555"/>
                  </a:cubicBezTo>
                  <a:cubicBezTo>
                    <a:pt x="649929" y="919345"/>
                    <a:pt x="582374" y="1172853"/>
                    <a:pt x="582374" y="1429020"/>
                  </a:cubicBezTo>
                  <a:cubicBezTo>
                    <a:pt x="582374" y="1673817"/>
                    <a:pt x="683999" y="1815838"/>
                    <a:pt x="913939" y="2113629"/>
                  </a:cubicBezTo>
                  <a:cubicBezTo>
                    <a:pt x="971497" y="2188169"/>
                    <a:pt x="1030996" y="2265275"/>
                    <a:pt x="1092340" y="2350634"/>
                  </a:cubicBezTo>
                  <a:cubicBezTo>
                    <a:pt x="1309274" y="2652643"/>
                    <a:pt x="1531839" y="2867368"/>
                    <a:pt x="1772941" y="3006913"/>
                  </a:cubicBezTo>
                  <a:cubicBezTo>
                    <a:pt x="2028506" y="3154891"/>
                    <a:pt x="2321246" y="3226772"/>
                    <a:pt x="2667759" y="3226772"/>
                  </a:cubicBezTo>
                  <a:cubicBezTo>
                    <a:pt x="2864407" y="3226772"/>
                    <a:pt x="3047273" y="3182305"/>
                    <a:pt x="3243339" y="3086769"/>
                  </a:cubicBezTo>
                  <a:cubicBezTo>
                    <a:pt x="3394318" y="3013193"/>
                    <a:pt x="3544153" y="2914345"/>
                    <a:pt x="3702873" y="2800709"/>
                  </a:cubicBezTo>
                  <a:lnTo>
                    <a:pt x="3860037" y="2686097"/>
                  </a:lnTo>
                  <a:lnTo>
                    <a:pt x="3860037" y="3372874"/>
                  </a:lnTo>
                  <a:lnTo>
                    <a:pt x="3694757" y="3476377"/>
                  </a:lnTo>
                  <a:cubicBezTo>
                    <a:pt x="3392861" y="3653193"/>
                    <a:pt x="3067353" y="3776788"/>
                    <a:pt x="2667759" y="3776788"/>
                  </a:cubicBezTo>
                  <a:cubicBezTo>
                    <a:pt x="1719653" y="3776788"/>
                    <a:pt x="1104085" y="3346695"/>
                    <a:pt x="610425" y="2659336"/>
                  </a:cubicBezTo>
                  <a:cubicBezTo>
                    <a:pt x="314191" y="2246938"/>
                    <a:pt x="0" y="1964091"/>
                    <a:pt x="0" y="1428928"/>
                  </a:cubicBezTo>
                  <a:cubicBezTo>
                    <a:pt x="0" y="982968"/>
                    <a:pt x="151158" y="563404"/>
                    <a:pt x="405569" y="1972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411EF4D-08B8-113B-AFC8-27393EF40E58}"/>
              </a:ext>
            </a:extLst>
          </p:cNvPr>
          <p:cNvSpPr txBox="1"/>
          <p:nvPr/>
        </p:nvSpPr>
        <p:spPr>
          <a:xfrm>
            <a:off x="5955944" y="4896492"/>
            <a:ext cx="5946202" cy="8388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tx2"/>
                </a:solidFill>
              </a:rPr>
              <a:t>Our model,using torch contains torch.save</a:t>
            </a:r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1BFEA43-2BB7-C07F-F585-B51A90D30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81" y="822605"/>
            <a:ext cx="4909129" cy="2147744"/>
          </a:xfrm>
          <a:prstGeom prst="rect">
            <a:avLst/>
          </a:prstGeom>
        </p:spPr>
      </p:pic>
      <p:pic>
        <p:nvPicPr>
          <p:cNvPr id="11" name="Picture 10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4D9598C-F5E4-0D19-85C9-09727C74D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81" y="3670032"/>
            <a:ext cx="4909129" cy="206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4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7D209-588F-205D-E1F0-241CAF75C270}"/>
              </a:ext>
            </a:extLst>
          </p:cNvPr>
          <p:cNvSpPr txBox="1"/>
          <p:nvPr/>
        </p:nvSpPr>
        <p:spPr>
          <a:xfrm>
            <a:off x="1060232" y="4516758"/>
            <a:ext cx="10071536" cy="92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>
                <a:latin typeface="+mj-lt"/>
                <a:ea typeface="+mj-ea"/>
                <a:cs typeface="+mj-cs"/>
              </a:rPr>
              <a:t>Final Training Performance Review</a:t>
            </a:r>
          </a:p>
        </p:txBody>
      </p:sp>
      <p:pic>
        <p:nvPicPr>
          <p:cNvPr id="6" name="Picture 5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08B5590F-09D4-3B48-E78F-73E8B414E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" b="39519"/>
          <a:stretch>
            <a:fillRect/>
          </a:stretch>
        </p:blipFill>
        <p:spPr>
          <a:xfrm>
            <a:off x="1221974" y="2862289"/>
            <a:ext cx="9755085" cy="1663776"/>
          </a:xfrm>
          <a:prstGeom prst="rect">
            <a:avLst/>
          </a:prstGeom>
        </p:spPr>
      </p:pic>
      <p:pic>
        <p:nvPicPr>
          <p:cNvPr id="3" name="Picture 2" descr="A black and white striped background&#10;&#10;Description automatically generated">
            <a:extLst>
              <a:ext uri="{FF2B5EF4-FFF2-40B4-BE49-F238E27FC236}">
                <a16:creationId xmlns:a16="http://schemas.microsoft.com/office/drawing/2014/main" id="{26CB4279-F9CD-DBB5-22A2-D3B48BB6D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507" y="489853"/>
            <a:ext cx="8105669" cy="219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4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erent colored question marks">
            <a:extLst>
              <a:ext uri="{FF2B5EF4-FFF2-40B4-BE49-F238E27FC236}">
                <a16:creationId xmlns:a16="http://schemas.microsoft.com/office/drawing/2014/main" id="{35D78AB7-FA7D-2959-7A2B-2C1A5841D2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3" b="-4"/>
          <a:stretch>
            <a:fillRect/>
          </a:stretch>
        </p:blipFill>
        <p:spPr>
          <a:xfrm>
            <a:off x="-4" y="-16897"/>
            <a:ext cx="12192003" cy="6884632"/>
          </a:xfrm>
          <a:prstGeom prst="rect">
            <a:avLst/>
          </a:prstGeom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4083" y="1474755"/>
            <a:ext cx="3943552" cy="3927961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4DD5A-EEA6-8BD2-4194-887018458A31}"/>
              </a:ext>
            </a:extLst>
          </p:cNvPr>
          <p:cNvSpPr txBox="1"/>
          <p:nvPr/>
        </p:nvSpPr>
        <p:spPr>
          <a:xfrm>
            <a:off x="7227856" y="2209316"/>
            <a:ext cx="3069083" cy="19455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Thank you! Questions for us?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48256A-88AC-4254-406B-0E8EE2CC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5334" y="1940933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15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664ae3-104a-4c66-87b2-ee999234e0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E3AF029FB5DB48815989EC96480DEA" ma:contentTypeVersion="6" ma:contentTypeDescription="Create a new document." ma:contentTypeScope="" ma:versionID="00735afc9b1c468ae148fa8df49d0aa6">
  <xsd:schema xmlns:xsd="http://www.w3.org/2001/XMLSchema" xmlns:xs="http://www.w3.org/2001/XMLSchema" xmlns:p="http://schemas.microsoft.com/office/2006/metadata/properties" xmlns:ns3="94664ae3-104a-4c66-87b2-ee999234e0fc" targetNamespace="http://schemas.microsoft.com/office/2006/metadata/properties" ma:root="true" ma:fieldsID="374e730b2dc916ef245cf589e0303c79" ns3:_="">
    <xsd:import namespace="94664ae3-104a-4c66-87b2-ee999234e0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64ae3-104a-4c66-87b2-ee999234e0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0FF186-4739-440E-B541-C81E4D95B993}">
  <ds:schemaRefs>
    <ds:schemaRef ds:uri="94664ae3-104a-4c66-87b2-ee999234e0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41A271-3826-40D5-A061-FD20C6AFE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D7E159-86AA-433B-A224-FE5FEAFD4ECD}">
  <ds:schemaRefs>
    <ds:schemaRef ds:uri="94664ae3-104a-4c66-87b2-ee999234e0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Cogoli, Sara - 01</dc:creator>
  <cp:revision>3</cp:revision>
  <dcterms:created xsi:type="dcterms:W3CDTF">2026-04-02T16:50:16Z</dcterms:created>
  <dcterms:modified xsi:type="dcterms:W3CDTF">2026-04-28T19:30:39Z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0x010100D9E3AF029FB5DB48815989EC96480DEA</vt:lpwstr>
  </property>
</Properties>
</file>